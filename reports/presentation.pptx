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05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30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425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64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98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2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873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9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52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4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37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1961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884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04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283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23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C6912-A884-4401-A770-ED37C196AAF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6C153-1950-4855-B0A9-95CE6E61DD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570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A9AF-9353-345B-C7BF-C31B75C67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819" y="1823069"/>
            <a:ext cx="10820400" cy="226715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AI-Driven Customer Intelligence System for Strategic Business Decision Making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F663D-733A-A310-1101-9AFB199FD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497440"/>
            <a:ext cx="9448800" cy="685800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dirty="0"/>
              <a:t>Capstone Project – Unsupervised Machine Learning</a:t>
            </a:r>
            <a:br>
              <a:rPr lang="en-US" dirty="0"/>
            </a:br>
            <a:r>
              <a:rPr lang="en-US" dirty="0"/>
              <a:t>Domain: Banking Customer Segmentation</a:t>
            </a:r>
            <a:br>
              <a:rPr lang="en-US" dirty="0"/>
            </a:br>
            <a:r>
              <a:rPr lang="en-US" dirty="0"/>
              <a:t>By : Shravani J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96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F424-4AAF-97CC-AF4E-630DB940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220" y="736842"/>
            <a:ext cx="10820400" cy="985769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Why Unsupervised Learning Was Used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1E8A-D000-4F8E-B7FB-3ACB82B64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4335"/>
            <a:ext cx="10820400" cy="53536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Problem Context</a:t>
            </a:r>
          </a:p>
          <a:p>
            <a:r>
              <a:rPr lang="en-US" dirty="0"/>
              <a:t>The dataset does not contain labeled customer segments.</a:t>
            </a:r>
          </a:p>
          <a:p>
            <a:r>
              <a:rPr lang="en-US" dirty="0"/>
              <a:t>There is no predefined “customer type” column.</a:t>
            </a:r>
          </a:p>
          <a:p>
            <a:r>
              <a:rPr lang="en-US" dirty="0"/>
              <a:t>Business does not know how many segments exist.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Why Supervised Learning Was Not Suitable</a:t>
            </a:r>
          </a:p>
          <a:p>
            <a:r>
              <a:rPr lang="en-US" dirty="0"/>
              <a:t>No labeled target variable for segmentation.</a:t>
            </a:r>
          </a:p>
          <a:p>
            <a:r>
              <a:rPr lang="en-US" dirty="0"/>
              <a:t>Objective was pattern discovery, not prediction.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Why Unsupervised Learning Was Appropriate</a:t>
            </a:r>
          </a:p>
          <a:p>
            <a:r>
              <a:rPr lang="en-US" dirty="0"/>
              <a:t>Automatically discovers hidden structures in data.</a:t>
            </a:r>
          </a:p>
          <a:p>
            <a:r>
              <a:rPr lang="en-US" dirty="0"/>
              <a:t>Groups customers based on similarity.</a:t>
            </a:r>
          </a:p>
          <a:p>
            <a:r>
              <a:rPr lang="en-US" dirty="0"/>
              <a:t>Identifies natural behavioral clusters.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                  Unsupervised learning was the correct approach for discovering unknown  customer segments.</a:t>
            </a:r>
          </a:p>
        </p:txBody>
      </p:sp>
    </p:spTree>
    <p:extLst>
      <p:ext uri="{BB962C8B-B14F-4D97-AF65-F5344CB8AC3E}">
        <p14:creationId xmlns:p14="http://schemas.microsoft.com/office/powerpoint/2010/main" val="247099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BB5E-E5F3-FA6D-1FFA-62BA16A8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090" y="639315"/>
            <a:ext cx="6420464" cy="1204045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Algorithms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99748-72E6-9F61-E8DF-91E6EAD61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43360"/>
            <a:ext cx="10820400" cy="4695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To ensure robustness, multiple clustering techniques were implemented:</a:t>
            </a:r>
          </a:p>
          <a:p>
            <a:pPr lvl="1"/>
            <a:r>
              <a:rPr lang="en-IN" dirty="0"/>
              <a:t>K-Means Clustering</a:t>
            </a:r>
          </a:p>
          <a:p>
            <a:pPr lvl="1"/>
            <a:r>
              <a:rPr lang="en-IN" dirty="0"/>
              <a:t>Hierarchical Clustering</a:t>
            </a:r>
          </a:p>
          <a:p>
            <a:pPr lvl="1"/>
            <a:r>
              <a:rPr lang="en-IN" dirty="0"/>
              <a:t>DBSCAN</a:t>
            </a:r>
          </a:p>
          <a:p>
            <a:pPr lvl="1"/>
            <a:r>
              <a:rPr lang="en-IN" dirty="0"/>
              <a:t>Gaussian Mixture Model (GMM)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Each algorithm was evaluated using:</a:t>
            </a:r>
          </a:p>
          <a:p>
            <a:pPr lvl="1"/>
            <a:r>
              <a:rPr lang="en-IN" dirty="0"/>
              <a:t>Elbow Method</a:t>
            </a:r>
          </a:p>
          <a:p>
            <a:pPr lvl="1"/>
            <a:r>
              <a:rPr lang="en-IN" dirty="0"/>
              <a:t>Silhouette Score</a:t>
            </a:r>
          </a:p>
          <a:p>
            <a:pPr lvl="1"/>
            <a:r>
              <a:rPr lang="en-IN" dirty="0"/>
              <a:t>Davies–Bouldin Index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ensured scientific and objective model comparison.</a:t>
            </a:r>
          </a:p>
        </p:txBody>
      </p:sp>
    </p:spTree>
    <p:extLst>
      <p:ext uri="{BB962C8B-B14F-4D97-AF65-F5344CB8AC3E}">
        <p14:creationId xmlns:p14="http://schemas.microsoft.com/office/powerpoint/2010/main" val="357124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9A75-524D-4BAD-AECC-090B08DA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42" y="639315"/>
            <a:ext cx="7553632" cy="1133253"/>
          </a:xfrm>
        </p:spPr>
        <p:txBody>
          <a:bodyPr>
            <a:normAutofit/>
          </a:bodyPr>
          <a:lstStyle/>
          <a:p>
            <a:r>
              <a:rPr lang="en-IN" sz="3600" dirty="0"/>
              <a:t>Why K-Means Performed Best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82AD1-DB47-9A2D-B099-715E6EC64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981"/>
            <a:ext cx="10820400" cy="48178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Evaluation Metrics</a:t>
            </a:r>
          </a:p>
          <a:p>
            <a:pPr lvl="1"/>
            <a:r>
              <a:rPr lang="en-US" dirty="0"/>
              <a:t>Highest Silhouette Score among tested models</a:t>
            </a:r>
          </a:p>
          <a:p>
            <a:pPr lvl="1"/>
            <a:r>
              <a:rPr lang="en-US" dirty="0"/>
              <a:t>Clear elbow point at k = 4</a:t>
            </a:r>
          </a:p>
          <a:p>
            <a:pPr lvl="1"/>
            <a:r>
              <a:rPr lang="en-US" dirty="0"/>
              <a:t>Lower Davies–Bouldin Index compared to others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Technical Advantages</a:t>
            </a:r>
          </a:p>
          <a:p>
            <a:pPr lvl="1"/>
            <a:r>
              <a:rPr lang="en-US" dirty="0"/>
              <a:t>Efficient for large datasets</a:t>
            </a:r>
          </a:p>
          <a:p>
            <a:pPr lvl="1"/>
            <a:r>
              <a:rPr lang="en-US" dirty="0"/>
              <a:t>Produces well-separated, compact clusters</a:t>
            </a:r>
          </a:p>
          <a:p>
            <a:pPr lvl="1"/>
            <a:r>
              <a:rPr lang="en-US" dirty="0"/>
              <a:t>Easy interpretability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Observational Evidence</a:t>
            </a:r>
          </a:p>
          <a:p>
            <a:pPr lvl="1"/>
            <a:r>
              <a:rPr lang="en-US" dirty="0"/>
              <a:t>PCA visualization showed clear cluster separation</a:t>
            </a:r>
          </a:p>
          <a:p>
            <a:pPr lvl="1"/>
            <a:r>
              <a:rPr lang="en-US" dirty="0"/>
              <a:t>Balanced cluster sizes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Conclusion:</a:t>
            </a:r>
            <a:br>
              <a:rPr lang="en-US" dirty="0"/>
            </a:br>
            <a:r>
              <a:rPr lang="en-US" dirty="0"/>
              <a:t>K-Means provided the most stable and interpretable segmentation.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979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CC58-6A96-A061-6370-D13768AB1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502" y="764373"/>
            <a:ext cx="6963697" cy="1293028"/>
          </a:xfrm>
        </p:spPr>
        <p:txBody>
          <a:bodyPr>
            <a:normAutofit/>
          </a:bodyPr>
          <a:lstStyle/>
          <a:p>
            <a:r>
              <a:rPr lang="en-IN" sz="3600" dirty="0"/>
              <a:t>PCA Visualization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FF61-689C-496E-3992-D7576F8F4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Principal Component Analysis</a:t>
            </a:r>
          </a:p>
          <a:p>
            <a:r>
              <a:rPr lang="en-US" dirty="0"/>
              <a:t>Reduced dimensionality to 2D</a:t>
            </a:r>
          </a:p>
          <a:p>
            <a:r>
              <a:rPr lang="en-US" dirty="0"/>
              <a:t>Visualized cluster separation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Observation:</a:t>
            </a:r>
            <a:br>
              <a:rPr lang="en-US" dirty="0"/>
            </a:br>
            <a:r>
              <a:rPr lang="en-US" dirty="0"/>
              <a:t>Clusters are clearly separated in reduced space, validating the segmentation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66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518E-B929-2364-6380-7EF9C4A7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670" y="764373"/>
            <a:ext cx="6973529" cy="985769"/>
          </a:xfrm>
        </p:spPr>
        <p:txBody>
          <a:bodyPr>
            <a:normAutofit/>
          </a:bodyPr>
          <a:lstStyle/>
          <a:p>
            <a:r>
              <a:rPr lang="en-IN" sz="3600" dirty="0"/>
              <a:t>Real-World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97D44-FEE8-E702-07EF-C79DFBE8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45226"/>
            <a:ext cx="10820400" cy="51127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segmentation provides direct business value:</a:t>
            </a:r>
          </a:p>
          <a:p>
            <a:pPr marL="0" indent="0">
              <a:buNone/>
            </a:pPr>
            <a:r>
              <a:rPr lang="en-US" b="1" dirty="0"/>
              <a:t>1. High-Value Customers</a:t>
            </a:r>
          </a:p>
          <a:p>
            <a:pPr lvl="1"/>
            <a:r>
              <a:rPr lang="en-US" dirty="0"/>
              <a:t>Prioritize premium services</a:t>
            </a:r>
          </a:p>
          <a:p>
            <a:pPr lvl="1"/>
            <a:r>
              <a:rPr lang="en-US" dirty="0"/>
              <a:t>Target for upselling</a:t>
            </a:r>
          </a:p>
          <a:p>
            <a:pPr marL="0" indent="0">
              <a:buNone/>
            </a:pPr>
            <a:r>
              <a:rPr lang="en-US" b="1" dirty="0"/>
              <a:t>2. At-Risk Customers</a:t>
            </a:r>
          </a:p>
          <a:p>
            <a:pPr lvl="1"/>
            <a:r>
              <a:rPr lang="en-US" dirty="0"/>
              <a:t>Design retention campaigns</a:t>
            </a:r>
          </a:p>
          <a:p>
            <a:pPr lvl="1"/>
            <a:r>
              <a:rPr lang="en-US" dirty="0"/>
              <a:t>Reduce churn</a:t>
            </a:r>
          </a:p>
          <a:p>
            <a:pPr marL="0" indent="0">
              <a:buNone/>
            </a:pPr>
            <a:r>
              <a:rPr lang="en-US" b="1" dirty="0"/>
              <a:t>3. Inefficient Marketing Segment</a:t>
            </a:r>
          </a:p>
          <a:p>
            <a:pPr lvl="1"/>
            <a:r>
              <a:rPr lang="en-US" dirty="0"/>
              <a:t>Optimize campaign frequency</a:t>
            </a:r>
          </a:p>
          <a:p>
            <a:pPr lvl="1"/>
            <a:r>
              <a:rPr lang="en-US" dirty="0"/>
              <a:t>Reduce marketing cost</a:t>
            </a:r>
          </a:p>
          <a:p>
            <a:pPr marL="0" indent="0">
              <a:buNone/>
            </a:pPr>
            <a:r>
              <a:rPr lang="en-US" b="1" dirty="0"/>
              <a:t>4. Stable Customers</a:t>
            </a:r>
          </a:p>
          <a:p>
            <a:pPr lvl="1"/>
            <a:r>
              <a:rPr lang="en-US" dirty="0"/>
              <a:t>Cross-sell products</a:t>
            </a:r>
          </a:p>
          <a:p>
            <a:pPr lvl="1"/>
            <a:r>
              <a:rPr lang="en-US" dirty="0"/>
              <a:t>Maintain engagement</a:t>
            </a:r>
          </a:p>
          <a:p>
            <a:pPr marL="0" indent="0">
              <a:buNone/>
            </a:pPr>
            <a:r>
              <a:rPr lang="en-US" dirty="0"/>
              <a:t>Impact:</a:t>
            </a:r>
          </a:p>
          <a:p>
            <a:pPr lvl="1"/>
            <a:r>
              <a:rPr lang="en-US" dirty="0"/>
              <a:t>Improved ROI</a:t>
            </a:r>
          </a:p>
          <a:p>
            <a:pPr lvl="1"/>
            <a:r>
              <a:rPr lang="en-US" dirty="0"/>
              <a:t>Reduced operational cost</a:t>
            </a:r>
          </a:p>
          <a:p>
            <a:pPr lvl="1"/>
            <a:r>
              <a:rPr lang="en-US" dirty="0"/>
              <a:t>Data-driven marketing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55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1B18-B08A-C5DC-2645-D3A09DDF1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48" y="764373"/>
            <a:ext cx="7376652" cy="1293028"/>
          </a:xfrm>
        </p:spPr>
        <p:txBody>
          <a:bodyPr>
            <a:normAutofit/>
          </a:bodyPr>
          <a:lstStyle/>
          <a:p>
            <a:r>
              <a:rPr lang="en-IN" sz="3600" dirty="0"/>
              <a:t>Strategic Business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1E052-4AAF-A2C7-3385-EA7772185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system enables:</a:t>
            </a:r>
          </a:p>
          <a:p>
            <a:pPr lvl="1"/>
            <a:r>
              <a:rPr lang="en-US" dirty="0"/>
              <a:t>Targeted marketing instead of mass campaigns</a:t>
            </a:r>
          </a:p>
          <a:p>
            <a:pPr lvl="1"/>
            <a:r>
              <a:rPr lang="en-US" dirty="0"/>
              <a:t>Personalized customer engagement</a:t>
            </a:r>
          </a:p>
          <a:p>
            <a:pPr lvl="1"/>
            <a:r>
              <a:rPr lang="en-US" dirty="0"/>
              <a:t>Efficient resource allocation</a:t>
            </a:r>
          </a:p>
          <a:p>
            <a:pPr lvl="1"/>
            <a:r>
              <a:rPr lang="en-US" dirty="0"/>
              <a:t>Improved decision-making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model transforms raw customer data into actionable business intelligence.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06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B2AE-BFC8-B3BF-2BA1-6F5D7E90D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142" y="639315"/>
            <a:ext cx="4338484" cy="1293028"/>
          </a:xfrm>
        </p:spPr>
        <p:txBody>
          <a:bodyPr>
            <a:normAutofit/>
          </a:bodyPr>
          <a:lstStyle/>
          <a:p>
            <a:r>
              <a:rPr lang="en-IN" sz="3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DA323-49C4-5597-3659-169A18DFD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learning was necessary due to absence of labels.</a:t>
            </a:r>
          </a:p>
          <a:p>
            <a:r>
              <a:rPr lang="en-US" dirty="0"/>
              <a:t>K-Means performed best based on scientific evaluation metrics.</a:t>
            </a:r>
          </a:p>
          <a:p>
            <a:r>
              <a:rPr lang="en-US" dirty="0"/>
              <a:t>The segmentation delivers measurable real-world business impact.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project demonstrates how AI can support strategic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06045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18</TotalTime>
  <Words>388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AI-Driven Customer Intelligence System for Strategic Business Decision Making</vt:lpstr>
      <vt:lpstr>Why Unsupervised Learning Was Used</vt:lpstr>
      <vt:lpstr>Algorithms Implemented</vt:lpstr>
      <vt:lpstr>Why K-Means Performed Best</vt:lpstr>
      <vt:lpstr>PCA Visualization Evidence</vt:lpstr>
      <vt:lpstr>Real-World Business Impact</vt:lpstr>
      <vt:lpstr>Strategic Business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shravani8005@gmail.com</dc:creator>
  <cp:lastModifiedBy>shravani8005@gmail.com</cp:lastModifiedBy>
  <cp:revision>1</cp:revision>
  <dcterms:created xsi:type="dcterms:W3CDTF">2026-02-24T14:51:19Z</dcterms:created>
  <dcterms:modified xsi:type="dcterms:W3CDTF">2026-02-24T15:10:12Z</dcterms:modified>
</cp:coreProperties>
</file>